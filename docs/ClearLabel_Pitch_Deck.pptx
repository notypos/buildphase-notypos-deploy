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13755594e645bd" /><Relationship Type="http://schemas.openxmlformats.org/officeDocument/2006/relationships/extended-properties" Target="/docProps/app.xml" Id="R83cc823ce59c4fa8" /><Relationship Type="http://schemas.openxmlformats.org/officeDocument/2006/relationships/officeDocument" Target="/ppt/presentation.xml" Id="Rb9e1a2805a5e44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984ef540a14312"/>
  </p:sldMasterIdLst>
  <p:notesMasterIdLst>
    <p:notesMasterId xmlns:r="http://schemas.openxmlformats.org/officeDocument/2006/relationships" r:id="Rd33e50d6f80a460a"/>
  </p:notesMasterIdLst>
  <p:sldIdLst>
    <p:sldId xmlns:r="http://schemas.openxmlformats.org/officeDocument/2006/relationships" id="256" r:id="Ree83e35afc254ba9"/>
    <p:sldId xmlns:r="http://schemas.openxmlformats.org/officeDocument/2006/relationships" id="257" r:id="R1501f8fc2ff44b01"/>
    <p:sldId xmlns:r="http://schemas.openxmlformats.org/officeDocument/2006/relationships" id="258" r:id="Re2e53ea0a50043e1"/>
    <p:sldId xmlns:r="http://schemas.openxmlformats.org/officeDocument/2006/relationships" id="259" r:id="R1fcb60c260c74f7d"/>
    <p:sldId xmlns:r="http://schemas.openxmlformats.org/officeDocument/2006/relationships" id="260" r:id="Ra9a621d50bf540c4"/>
    <p:sldId xmlns:r="http://schemas.openxmlformats.org/officeDocument/2006/relationships" id="261" r:id="R4fc70d3a5dd04f1b"/>
    <p:sldId xmlns:r="http://schemas.openxmlformats.org/officeDocument/2006/relationships" id="262" r:id="Rcc152bfc79274dbb"/>
    <p:sldId xmlns:r="http://schemas.openxmlformats.org/officeDocument/2006/relationships" id="263" r:id="Re9954d4fea6a4c25"/>
    <p:sldId xmlns:r="http://schemas.openxmlformats.org/officeDocument/2006/relationships" id="264" r:id="Rf44ba44b67074241"/>
    <p:sldId xmlns:r="http://schemas.openxmlformats.org/officeDocument/2006/relationships" id="265" r:id="R1822e20b71e94dbd"/>
    <p:sldId xmlns:r="http://schemas.openxmlformats.org/officeDocument/2006/relationships" id="266" r:id="Rf9c488b2995b4508"/>
    <p:sldId xmlns:r="http://schemas.openxmlformats.org/officeDocument/2006/relationships" id="267" r:id="Rc04f015bd4cc49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a6c484c06049ce" /><Relationship Type="http://schemas.openxmlformats.org/officeDocument/2006/relationships/slideMaster" Target="/ppt/slideMasters/slideMaster1.xml" Id="R9e984ef540a14312" /><Relationship Type="http://schemas.openxmlformats.org/officeDocument/2006/relationships/notesMaster" Target="/ppt/notesMasters/notesMaster1.xml" Id="Rd33e50d6f80a460a" /><Relationship Type="http://schemas.openxmlformats.org/officeDocument/2006/relationships/presProps" Target="/ppt/presProps.xml" Id="R2d6b304eb8314cc6" /><Relationship Type="http://schemas.openxmlformats.org/officeDocument/2006/relationships/tableStyles" Target="/ppt/tableStyles.xml" Id="Rf94563815d32428d" /><Relationship Type="http://schemas.openxmlformats.org/officeDocument/2006/relationships/slide" Target="/ppt/slides/slide1.xml" Id="Ree83e35afc254ba9" /><Relationship Type="http://schemas.openxmlformats.org/officeDocument/2006/relationships/slide" Target="/ppt/slides/slide2.xml" Id="R1501f8fc2ff44b01" /><Relationship Type="http://schemas.openxmlformats.org/officeDocument/2006/relationships/slide" Target="/ppt/slides/slide3.xml" Id="Re2e53ea0a50043e1" /><Relationship Type="http://schemas.openxmlformats.org/officeDocument/2006/relationships/slide" Target="/ppt/slides/slide4.xml" Id="R1fcb60c260c74f7d" /><Relationship Type="http://schemas.openxmlformats.org/officeDocument/2006/relationships/slide" Target="/ppt/slides/slide5.xml" Id="Ra9a621d50bf540c4" /><Relationship Type="http://schemas.openxmlformats.org/officeDocument/2006/relationships/slide" Target="/ppt/slides/slide6.xml" Id="R4fc70d3a5dd04f1b" /><Relationship Type="http://schemas.openxmlformats.org/officeDocument/2006/relationships/slide" Target="/ppt/slides/slide7.xml" Id="Rcc152bfc79274dbb" /><Relationship Type="http://schemas.openxmlformats.org/officeDocument/2006/relationships/slide" Target="/ppt/slides/slide8.xml" Id="Re9954d4fea6a4c25" /><Relationship Type="http://schemas.openxmlformats.org/officeDocument/2006/relationships/slide" Target="/ppt/slides/slide9.xml" Id="Rf44ba44b67074241" /><Relationship Type="http://schemas.openxmlformats.org/officeDocument/2006/relationships/slide" Target="/ppt/slides/slide10.xml" Id="R1822e20b71e94dbd" /><Relationship Type="http://schemas.openxmlformats.org/officeDocument/2006/relationships/slide" Target="/ppt/slides/slide11.xml" Id="Rf9c488b2995b4508" /><Relationship Type="http://schemas.openxmlformats.org/officeDocument/2006/relationships/slide" Target="/ppt/slides/slide12.xml" Id="Rc04f015bd4cc49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acaa2b2884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3525a659a4a5b" /><Relationship Type="http://schemas.openxmlformats.org/officeDocument/2006/relationships/notesMaster" Target="/ppt/notesMasters/notesMaster1.xml" Id="R177824ac26084d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e01a525da94600" /><Relationship Type="http://schemas.openxmlformats.org/officeDocument/2006/relationships/notesMaster" Target="/ppt/notesMasters/notesMaster1.xml" Id="R5abfa03792d44e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ebb8009fbf4ab6" /><Relationship Type="http://schemas.openxmlformats.org/officeDocument/2006/relationships/notesMaster" Target="/ppt/notesMasters/notesMaster1.xml" Id="R95207b951c6e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29c7764392410f" /><Relationship Type="http://schemas.openxmlformats.org/officeDocument/2006/relationships/notesMaster" Target="/ppt/notesMasters/notesMaster1.xml" Id="R8186c525962d47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a84c49496048cf" /><Relationship Type="http://schemas.openxmlformats.org/officeDocument/2006/relationships/notesMaster" Target="/ppt/notesMasters/notesMaster1.xml" Id="R984ec586216e46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c0620de595458a" /><Relationship Type="http://schemas.openxmlformats.org/officeDocument/2006/relationships/notesMaster" Target="/ppt/notesMasters/notesMaster1.xml" Id="Rb11b709e64e443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0697aa9d45491e" /><Relationship Type="http://schemas.openxmlformats.org/officeDocument/2006/relationships/notesMaster" Target="/ppt/notesMasters/notesMaster1.xml" Id="R47129d1c578140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9536caf7f34a51" /><Relationship Type="http://schemas.openxmlformats.org/officeDocument/2006/relationships/notesMaster" Target="/ppt/notesMasters/notesMaster1.xml" Id="R83135eac2d6f40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e3cba359ba4725" /><Relationship Type="http://schemas.openxmlformats.org/officeDocument/2006/relationships/notesMaster" Target="/ppt/notesMasters/notesMaster1.xml" Id="R3877fe57a66848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f2311dafe74129" /><Relationship Type="http://schemas.openxmlformats.org/officeDocument/2006/relationships/notesMaster" Target="/ppt/notesMasters/notesMaster1.xml" Id="R0bc361ae5fcc43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ffc3e9974f41fa" /><Relationship Type="http://schemas.openxmlformats.org/officeDocument/2006/relationships/notesMaster" Target="/ppt/notesMasters/notesMaster1.xml" Id="R33ac5dadc7ec41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503bb107e4e13" /><Relationship Type="http://schemas.openxmlformats.org/officeDocument/2006/relationships/notesMaster" Target="/ppt/notesMasters/notesMaster1.xml" Id="Rb70c57fc010340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in one sentence: ClearLabel brings NIH evidence to the shelf, the cabinet, and the clinician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an access and timing problem, not a lack of authoritative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quick product map before showing the technical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technical claim is that an out-of-scope query never reaches the language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product surface directly to the sponsor need: evidence, uncertainty, and marketing must be visibly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live camera capture is unreliable, the typed stack flow still demonstrates the same downstream safety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safety design choice to emphasize: LLMs explain, but do not decide dose math.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privacy model is not just a compliance paragraph; it changed the schema and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transition from product to readiness: the project is polished but still candid about known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oversell. The documented limits make the project more trustworthy.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doubles as the presenter's mental checklist on demo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the one thing judges should remember: ClearLabel is an evidence interface, not a medical-advice chatbot.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plan.md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docs/API.md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ad0bca95043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3a70021f74f3b" /><Relationship Type="http://schemas.openxmlformats.org/officeDocument/2006/relationships/slideLayout" Target="/ppt/slideLayouts/slideLayout1.xml" Id="R28024e56721e4e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24e56721e4e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3fb0f2342435e" /><Relationship Type="http://schemas.openxmlformats.org/officeDocument/2006/relationships/image" Target="/ppt/media/image.png" Id="Rfbe6720354884603" /><Relationship Type="http://schemas.openxmlformats.org/officeDocument/2006/relationships/notesSlide" Target="/ppt/notesSlides/notesSlide1.xml" Id="R1185d44b433f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c2880fe7a4828" /><Relationship Type="http://schemas.openxmlformats.org/officeDocument/2006/relationships/notesSlide" Target="/ppt/notesSlides/notesSlide2.xml" Id="R65b8ed6f1a5342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3753475ad4155" /><Relationship Type="http://schemas.openxmlformats.org/officeDocument/2006/relationships/notesSlide" Target="/ppt/notesSlides/notesSlide3.xml" Id="Re46d9b83463d48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22bb838f441ea" /><Relationship Type="http://schemas.openxmlformats.org/officeDocument/2006/relationships/notesSlide" Target="/ppt/notesSlides/notesSlide4.xml" Id="R77edfe96252f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9821f085441fb" /><Relationship Type="http://schemas.openxmlformats.org/officeDocument/2006/relationships/notesSlide" Target="/ppt/notesSlides/notesSlide5.xml" Id="R5094b0d8e4fe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27379916c403a" /><Relationship Type="http://schemas.openxmlformats.org/officeDocument/2006/relationships/notesSlide" Target="/ppt/notesSlides/notesSlide6.xml" Id="R2b715ed470ce4f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ecfec19a7496b" /><Relationship Type="http://schemas.openxmlformats.org/officeDocument/2006/relationships/notesSlide" Target="/ppt/notesSlides/notesSlide7.xml" Id="R378c5169ab8e40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22166b4ed4be5" /><Relationship Type="http://schemas.openxmlformats.org/officeDocument/2006/relationships/notesSlide" Target="/ppt/notesSlides/notesSlide8.xml" Id="Re221e0b814cb42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b890080604854" /><Relationship Type="http://schemas.openxmlformats.org/officeDocument/2006/relationships/notesSlide" Target="/ppt/notesSlides/notesSlide9.xml" Id="Rc1b3c917f31a4f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1933c9e354320" /><Relationship Type="http://schemas.openxmlformats.org/officeDocument/2006/relationships/notesSlide" Target="/ppt/notesSlides/notesSlide10.xml" Id="R24a331f9bc044d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17551c5484352" /><Relationship Type="http://schemas.openxmlformats.org/officeDocument/2006/relationships/notesSlide" Target="/ppt/notesSlides/notesSlide11.xml" Id="R51469464418544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1ce37048e4c08" /><Relationship Type="http://schemas.openxmlformats.org/officeDocument/2006/relationships/notesSlide" Target="/ppt/notesSlides/notesSlide12.xml" Id="R755e48d0020b4a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885A4-D058-40F5-A6F8-2DC9870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EB1CB-CF32-47FA-AF1D-1508C50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6720354884603"/>
          <a:stretch xmlns:a="http://schemas.openxmlformats.org/drawingml/2006/main"/>
        </p:blipFill>
        <p:spPr>
          <a:xfrm xmlns:a="http://schemas.openxmlformats.org/drawingml/2006/main">
            <a:off x="819150" y="8191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4DE0A-1E3E-4951-9B82-18163B30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BFF"/>
                </a:solidFill>
              </a:defRPr>
            </a:pPr>
            <a:r>
              <a:rPr sz="4650" b="1">
                <a:solidFill>
                  <a:srgbClr val="F7FBFF"/>
                </a:solidFill>
              </a:rPr>
              <a:t>ClearLabel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7A699-6E74-4EF3-9394-5E08898E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8CA"/>
                </a:solidFill>
              </a:defRPr>
            </a:pPr>
            <a:r>
              <a:rPr sz="1950" b="0">
                <a:solidFill>
                  <a:srgbClr val="A7B8CA"/>
                </a:solidFill>
              </a:rPr>
              <a:t>NIH-grounded supplement answers for the moment people actually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6B1A3-CF0D-47FC-BE97-F74DEF3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BB0C8-0FB6-4216-BA68-789C2369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890A7"/>
                </a:solidFill>
              </a:defRPr>
            </a:pPr>
            <a:r>
              <a:rPr sz="1500" b="0">
                <a:solidFill>
                  <a:srgbClr val="7890A7"/>
                </a:solidFill>
              </a:rPr>
              <a:t>FAU AI HootCamp Summer 2026</a:t>
            </a:r>
          </a:p>
          <a:p xmlns:a="http://schemas.openxmlformats.org/drawingml/2006/main">
            <a:pPr algn="l">
              <a:defRPr sz="1500" b="0">
                <a:solidFill>
                  <a:srgbClr val="7890A7"/>
                </a:solidFill>
              </a:defRPr>
            </a:pPr>
            <a:r>
              <a:rPr sz="1500" b="0">
                <a:solidFill>
                  <a:srgbClr val="7890A7"/>
                </a:solidFill>
              </a:rPr>
              <a:t>Ike Machover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E5495-2E7B-4AD2-AC06-4A0FF789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333750" cy="4572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1212F-AFF6-484B-835D-C65A0DF6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76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728"/>
                </a:solidFill>
              </a:defRPr>
            </a:pPr>
            <a:r>
              <a:rPr sz="2400" b="1">
                <a:solidFill>
                  <a:srgbClr val="0B1728"/>
                </a:solidFill>
              </a:rPr>
              <a:t>Supplement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5196E-B823-4739-8459-79D338D1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71650"/>
            <a:ext cx="2457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F3311-4D9B-4A4F-A29E-01244AC4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2333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728"/>
                </a:solidFill>
              </a:defRPr>
            </a:pPr>
            <a:r>
              <a:rPr sz="2250" b="1">
                <a:solidFill>
                  <a:srgbClr val="0B1728"/>
                </a:solidFill>
              </a:rPr>
              <a:t>Evidence</a:t>
            </a:r>
          </a:p>
          <a:p xmlns:a="http://schemas.openxmlformats.org/drawingml/2006/main">
            <a:pPr algn="l">
              <a:defRPr sz="2250" b="1">
                <a:solidFill>
                  <a:srgbClr val="0B1728"/>
                </a:solidFill>
              </a:defRPr>
            </a:pPr>
            <a:r>
              <a:rPr sz="2250" b="1">
                <a:solidFill>
                  <a:srgbClr val="0B1728"/>
                </a:solidFill>
              </a:rPr>
              <a:t>Uncertainty</a:t>
            </a:r>
          </a:p>
          <a:p xmlns:a="http://schemas.openxmlformats.org/drawingml/2006/main">
            <a:pPr algn="l">
              <a:defRPr sz="2250" b="1">
                <a:solidFill>
                  <a:srgbClr val="0B1728"/>
                </a:solidFill>
              </a:defRPr>
            </a:pPr>
            <a:r>
              <a:rPr sz="2250" b="1">
                <a:solidFill>
                  <a:srgbClr val="0B1728"/>
                </a:solidFill>
              </a:rPr>
              <a:t>Marketing</a:t>
            </a:r>
          </a:p>
          <a:p xmlns:a="http://schemas.openxmlformats.org/drawingml/2006/main">
            <a:pPr algn="l">
              <a:defRPr sz="2250" b="1">
                <a:solidFill>
                  <a:srgbClr val="0B1728"/>
                </a:solidFill>
              </a:defRPr>
            </a:pPr>
            <a:r>
              <a:rPr sz="2250" b="1">
                <a:solidFill>
                  <a:srgbClr val="0B1728"/>
                </a:solidFill>
              </a:rPr>
              <a:t>Upper limits</a:t>
            </a:r>
          </a:p>
          <a:p xmlns:a="http://schemas.openxmlformats.org/drawingml/2006/main">
            <a:pPr algn="l">
              <a:defRPr sz="2250" b="1">
                <a:solidFill>
                  <a:srgbClr val="0B1728"/>
                </a:solidFill>
              </a:defRPr>
            </a:pPr>
            <a:r>
              <a:rPr sz="2250" b="1">
                <a:solidFill>
                  <a:srgbClr val="0B1728"/>
                </a:solidFill>
              </a:rPr>
              <a:t>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4FB3C-29B7-41F3-BE83-FEE2C0BC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96072"/>
                </a:solidFill>
              </a:defRPr>
            </a:pPr>
            <a:r>
              <a:rPr sz="1350" b="0">
                <a:solidFill>
                  <a:srgbClr val="496072"/>
                </a:solidFill>
              </a:rPr>
              <a:t>Plain language, cited sections, no guessing.</a:t>
            </a:r>
          </a:p>
        </p:txBody>
      </p:sp>
    </p:spTree>
    <p:extLst>
      <p:ext uri="{BB962C8B-B14F-4D97-AF65-F5344CB8AC3E}">
        <p14:creationId xmlns:p14="http://schemas.microsoft.com/office/powerpoint/2010/main" val="738528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C2D98-2C95-42D9-9965-F0AA0DBF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7A708-BEED-4E3A-9722-751A25DC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22C88-8880-43ED-BF27-7CB3B318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Supplement decisions outpace fact sheets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96394-D6CE-4C3C-A346-16F58D0B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The information exists, but it rarely reaches consumers at the point of purchase.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56631-44FE-4C88-923E-AD63A68D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650">
                <a:solidFill>
                  <a:srgbClr val="A7B8CA"/>
                </a:solidFill>
              </a:defRPr>
            </a:pPr>
            <a:r>
              <a:rPr sz="1650">
                <a:solidFill>
                  <a:srgbClr val="A7B8CA"/>
                </a:solidFill>
              </a:rPr>
              <a:t>NIH ODS publishes rigorous fact sheets, but users are usually looking at a bottle, not a government page.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650">
                <a:solidFill>
                  <a:srgbClr val="A7B8CA"/>
                </a:solidFill>
              </a:defRPr>
            </a:pPr>
            <a:r>
              <a:rPr sz="1650">
                <a:solidFill>
                  <a:srgbClr val="A7B8CA"/>
                </a:solidFill>
              </a:rPr>
              <a:t>Marketing claims are easy to read; uncertainty and safety limits are not.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650">
                <a:solidFill>
                  <a:srgbClr val="A7B8CA"/>
                </a:solidFill>
              </a:defRPr>
            </a:pPr>
            <a:r>
              <a:rPr sz="1650">
                <a:solidFill>
                  <a:srgbClr val="A7B8CA"/>
                </a:solidFill>
              </a:rPr>
              <a:t>Stacked products can cross upper limits even when each item looks ordinary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2AE4C-EECB-4239-A81C-508CB8A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3143250" cy="4000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2A42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31CE8-07DF-40BB-8AC4-264262D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C6"/>
                </a:solidFill>
              </a:defRPr>
            </a:pPr>
            <a:r>
              <a:rPr sz="975" b="1">
                <a:solidFill>
                  <a:srgbClr val="44D7C6"/>
                </a:solidFill>
              </a:rPr>
              <a:t>DECISION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6A4DF-1644-4829-A8FE-DB08113C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Standing in an aisle with a label in hand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D1B14-E616-448A-8655-6DDAF010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86A"/>
                </a:solidFill>
              </a:defRPr>
            </a:pPr>
            <a:r>
              <a:rPr sz="975" b="1">
                <a:solidFill>
                  <a:srgbClr val="F5C86A"/>
                </a:solidFill>
              </a:rPr>
              <a:t>RISK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18512-C950-4020-B61A-2A50D78E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Dose, interactions, and uncertainty are scattered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0FB2D-1318-4758-9859-C84B780D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E6B5"/>
                </a:solidFill>
              </a:defRPr>
            </a:pPr>
            <a:r>
              <a:rPr sz="975" b="1">
                <a:solidFill>
                  <a:srgbClr val="84E6B5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764B2-5421-4B5D-9082-7F88F43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Fast, cited, plain-language guidance</a:t>
            </a:r>
          </a:p>
        </p:txBody>
      </p:sp>
    </p:spTree>
    <p:extLst>
      <p:ext uri="{BB962C8B-B14F-4D97-AF65-F5344CB8AC3E}">
        <p14:creationId xmlns:p14="http://schemas.microsoft.com/office/powerpoint/2010/main" val="1959467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0E750-5E89-41A7-97C7-4031D00E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7338A-C5C5-4222-A90E-3DFC87C1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E0D9A-D920-46AF-BAA4-2902AFD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NIH evidence fits the user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FB2F8-30E3-45DC-A401-6BA85C16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Ask, scan, check, and save: each workflow points back to authoritative sections.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36E03-04DA-44A6-995B-D68FDA70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381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BADAF-45D1-4BB3-AD7B-0E539588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D7C6"/>
                </a:solidFill>
              </a:defRPr>
            </a:pPr>
            <a:r>
              <a:rPr sz="1350" b="1">
                <a:solidFill>
                  <a:srgbClr val="44D7C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A4616-8A11-4831-BD58-0F504090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DAA91-B0FF-4C43-9031-D31DEB1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8CA"/>
                </a:solidFill>
              </a:defRPr>
            </a:pPr>
            <a:r>
              <a:rPr sz="1350" b="0">
                <a:solidFill>
                  <a:srgbClr val="A7B8CA"/>
                </a:solidFill>
              </a:rPr>
              <a:t>Question answered from NIH chunks with citations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86283-09B1-4A3E-B9D2-CCF3D6BF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38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90A7"/>
                </a:solidFill>
              </a:defRPr>
            </a:pPr>
            <a:r>
              <a:rPr sz="1875" b="1">
                <a:solidFill>
                  <a:srgbClr val="7890A7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A510D-03A7-4AA4-8383-74799B6C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52750"/>
            <a:ext cx="2381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BB99B-173C-4BE4-8DD7-44F315F7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D7C6"/>
                </a:solidFill>
              </a:defRPr>
            </a:pPr>
            <a:r>
              <a:rPr sz="1350" b="1">
                <a:solidFill>
                  <a:srgbClr val="44D7C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9B41A-D1D2-4041-87E0-93D3917E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5B848-525A-4E50-B052-F5288974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8CA"/>
                </a:solidFill>
              </a:defRPr>
            </a:pPr>
            <a:r>
              <a:rPr sz="1350" b="0">
                <a:solidFill>
                  <a:srgbClr val="A7B8CA"/>
                </a:solidFill>
              </a:rPr>
              <a:t>Label photo becomes structured product and dose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B818D-CA02-49F7-B009-E9D6F39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90A7"/>
                </a:solidFill>
              </a:defRPr>
            </a:pPr>
            <a:r>
              <a:rPr sz="1875" b="1">
                <a:solidFill>
                  <a:srgbClr val="7890A7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7E80B-6AE9-42EA-8BFA-13AB0047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2381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44F87-6878-41C4-A4D9-AC462AE8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D7C6"/>
                </a:solidFill>
              </a:defRPr>
            </a:pPr>
            <a:r>
              <a:rPr sz="1350" b="1">
                <a:solidFill>
                  <a:srgbClr val="44D7C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9FA0F-660D-4BCD-9706-48423E5F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BDD6B-3F90-4DCC-A06D-431B5D65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8CA"/>
                </a:solidFill>
              </a:defRPr>
            </a:pPr>
            <a:r>
              <a:rPr sz="1350" b="0">
                <a:solidFill>
                  <a:srgbClr val="A7B8CA"/>
                </a:solidFill>
              </a:rPr>
              <a:t>Saved supplements are checked against upper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827CF-79BF-4F01-A9E8-97C9426F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90A7"/>
                </a:solidFill>
              </a:defRPr>
            </a:pPr>
            <a:r>
              <a:rPr sz="1875" b="1">
                <a:solidFill>
                  <a:srgbClr val="7890A7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4C34A-4D5C-4DCE-AE61-A053595A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381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89126-1B9A-4469-B1DA-39B206C2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D7C6"/>
                </a:solidFill>
              </a:defRPr>
            </a:pPr>
            <a:r>
              <a:rPr sz="1350" b="1">
                <a:solidFill>
                  <a:srgbClr val="44D7C6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5422A-C428-4ECC-AA70-5898C113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Card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C90BB-4271-4513-BD5D-8E638C2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8CA"/>
                </a:solidFill>
              </a:defRPr>
            </a:pPr>
            <a:r>
              <a:rPr sz="1350" b="0">
                <a:solidFill>
                  <a:srgbClr val="A7B8CA"/>
                </a:solidFill>
              </a:rPr>
              <a:t>Decision summary becomes a clinician conversation aid</a:t>
            </a:r>
          </a:p>
        </p:txBody>
      </p:sp>
    </p:spTree>
    <p:extLst>
      <p:ext uri="{BB962C8B-B14F-4D97-AF65-F5344CB8AC3E}">
        <p14:creationId xmlns:p14="http://schemas.microsoft.com/office/powerpoint/2010/main" val="908398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23FD0-DA9E-4FAA-9955-33A99FC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CC64F-222C-43FC-AEEB-7F207F6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28435-A460-401A-BF4B-815F1781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Grounding happens before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C1D5A-2CF4-4194-A933-07896419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The safest answer path is the one where unsupported questions never reach the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DDC4D-0946-45F1-8C21-EC90D40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4547C-7110-402B-9395-2D2553E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FCB7E-50D5-4191-8E0D-677A3AD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8CA"/>
                </a:solidFill>
              </a:defRPr>
            </a:pPr>
            <a:r>
              <a:rPr sz="1275" b="0">
                <a:solidFill>
                  <a:srgbClr val="A7B8CA"/>
                </a:solidFill>
              </a:rPr>
              <a:t>Plain-language supplement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26779-25C0-42D5-AC1E-FAF992FD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908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E84BC-D985-45D4-B275-78ECCF5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Retrieve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DA51F-53FE-468B-B5F3-E1CBADED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8CA"/>
                </a:solidFill>
              </a:defRPr>
            </a:pPr>
            <a:r>
              <a:rPr sz="1275" b="0">
                <a:solidFill>
                  <a:srgbClr val="A7B8CA"/>
                </a:solidFill>
              </a:rPr>
              <a:t>Gemini embedding + pgvector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FA0AB-B18D-4D06-B062-07AD9E49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2865F-B197-4F8A-8710-B032064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61D7C-7FF2-4C9E-BDA2-C11F29C2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8CA"/>
                </a:solidFill>
              </a:defRPr>
            </a:pPr>
            <a:r>
              <a:rPr sz="1275" b="0">
                <a:solidFill>
                  <a:srgbClr val="A7B8CA"/>
                </a:solidFill>
              </a:rPr>
              <a:t>Measured 0.66 similarity floor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6A5CA-5160-4E5B-9F4A-9D670025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4E94D-C206-416C-B5E2-BA417AD2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7C28D-49C3-4E0B-B48E-CD24A68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8CA"/>
                </a:solidFill>
              </a:defRPr>
            </a:pPr>
            <a:r>
              <a:rPr sz="1275" b="0">
                <a:solidFill>
                  <a:srgbClr val="A7B8CA"/>
                </a:solidFill>
              </a:rPr>
              <a:t>Structured evidence cards from retrieved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0A007-C88B-4691-B07D-B46D95A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43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D7C6"/>
                </a:solidFill>
              </a:defRPr>
            </a:pPr>
            <a:r>
              <a:rPr sz="2100" b="1">
                <a:solidFill>
                  <a:srgbClr val="44D7C6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383A3-14BE-49AC-AED9-3CA6FD56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43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D7C6"/>
                </a:solidFill>
              </a:defRPr>
            </a:pPr>
            <a:r>
              <a:rPr sz="2100" b="1">
                <a:solidFill>
                  <a:srgbClr val="44D7C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F89CE-C895-49BD-A008-111E3BE2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D7C6"/>
                </a:solidFill>
              </a:defRPr>
            </a:pPr>
            <a:r>
              <a:rPr sz="2100" b="1">
                <a:solidFill>
                  <a:srgbClr val="44D7C6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0C932-93B1-40AE-B4F9-57A76DAA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62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B1D27"/>
          </a:solidFill>
          <a:ln xmlns:a="http://schemas.openxmlformats.org/drawingml/2006/main" w="9525">
            <a:solidFill>
              <a:srgbClr val="7043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042E4-6C5C-4F1F-839B-C6812BF0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33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8B8B"/>
                </a:solidFill>
              </a:defRPr>
            </a:pPr>
            <a:r>
              <a:rPr sz="1275" b="1">
                <a:solidFill>
                  <a:srgbClr val="FF8B8B"/>
                </a:solidFill>
              </a:rPr>
              <a:t>Below threshold: refuse without generation</a:t>
            </a:r>
          </a:p>
        </p:txBody>
      </p:sp>
    </p:spTree>
    <p:extLst>
      <p:ext uri="{BB962C8B-B14F-4D97-AF65-F5344CB8AC3E}">
        <p14:creationId xmlns:p14="http://schemas.microsoft.com/office/powerpoint/2010/main" val="501650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4B796-7772-400B-8CD9-AD94563D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185F7-B4B8-4EEE-B4F2-57948D45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794F4-F834-4D82-8A31-A492E63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The UI separates evidence from persuasion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B9148-41B8-4F4C-BCC1-41774980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Users see what NIH supports, what remains uncertain, and what marketing often implies.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69FC8-F702-47DC-8DDE-5D1D0472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C591B-C91A-48CC-B472-673F591C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E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5567A-2FCE-461E-A187-19CB10F0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E6751-45D4-461E-B99E-B95AE566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8CA"/>
                </a:solidFill>
              </a:defRPr>
            </a:pPr>
            <a:r>
              <a:rPr sz="1500" b="0">
                <a:solidFill>
                  <a:srgbClr val="A7B8CA"/>
                </a:solidFill>
              </a:rPr>
              <a:t>What the NIH sections actually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4608A-8923-49B0-9FD9-F09C705B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C0DB5-1974-4532-A8C7-3842F43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EB2CE-E4B8-4F9B-8F39-461DCEAF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Uncertainty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59F8B-59F6-4058-82A6-154BD3FC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528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8CA"/>
                </a:solidFill>
              </a:defRPr>
            </a:pPr>
            <a:r>
              <a:rPr sz="1500" b="0">
                <a:solidFill>
                  <a:srgbClr val="A7B8CA"/>
                </a:solidFill>
              </a:rPr>
              <a:t>Where dose, population, or outcome evidence is limited.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A0CE8-4270-4DF3-A88F-E6772462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938E3-C1D0-468D-AEDD-9ACC2475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6F0B5-4E0A-4B24-9EB6-855AC103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Marketing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DDDB6-A5D5-48C1-A4EB-EFF7E1E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528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8CA"/>
                </a:solidFill>
              </a:defRPr>
            </a:pPr>
            <a:r>
              <a:rPr sz="1500" b="0">
                <a:solidFill>
                  <a:srgbClr val="A7B8CA"/>
                </a:solidFill>
              </a:rPr>
              <a:t>Claims are named without treating them as proof.</a:t>
            </a:r>
          </a:p>
        </p:txBody>
      </p:sp>
    </p:spTree>
    <p:extLst>
      <p:ext uri="{BB962C8B-B14F-4D97-AF65-F5344CB8AC3E}">
        <p14:creationId xmlns:p14="http://schemas.microsoft.com/office/powerpoint/2010/main" val="1045318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4611D-ACEF-4E70-BB46-91A569A1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30D9B-C8C4-4768-B2D4-CCFCF36E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AE85F-B001-4755-A0D4-CF491AF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Scanning turns labels into stack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5F6A9-77A5-4757-B1DA-73155D0B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The camera flow lowers friction while still showing source and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41C55-8C8D-44E9-B7E6-00AE4100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097D5-47CF-414F-9FD8-B623919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Supplement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714B2-CC45-4023-A224-6BD38D2D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A8322-549E-495D-AD79-7A7B6C6B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Vitamin D 25 mcg</a:t>
            </a:r>
          </a:p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Calcium 200 mg</a:t>
            </a:r>
          </a:p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Magnesium 80 mg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0D7A2-3DE1-468F-9519-0DB9FCE2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44180-671C-4069-80C3-5D5698D8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90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Vision OCR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5C087-D204-44BE-8DEC-F8795F4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00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A"/>
                </a:solidFill>
              </a:defRPr>
            </a:pPr>
            <a:r>
              <a:rPr sz="1200" b="0">
                <a:solidFill>
                  <a:srgbClr val="A7B8CA"/>
                </a:solidFill>
              </a:rPr>
              <a:t>Extract dose rows from the label photo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8215A-0F36-4DEF-B767-458F1E9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D02E3-219D-46A1-A29E-EC7D5DD3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90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DSLD 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EE5B3-19DA-47EC-9755-258C3FB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100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A"/>
                </a:solidFill>
              </a:defRPr>
            </a:pPr>
            <a:r>
              <a:rPr sz="1200" b="0">
                <a:solidFill>
                  <a:srgbClr val="A7B8CA"/>
                </a:solidFill>
              </a:rPr>
              <a:t>Use NIH label data when a front label matches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3389F-5364-411E-B7AD-F7D3105F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71187-F486-4CBB-9A85-661B864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90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</a:defRPr>
            </a:pPr>
            <a:r>
              <a:rPr sz="1725" b="1">
                <a:solidFill>
                  <a:srgbClr val="F7FBFF"/>
                </a:solidFill>
              </a:rPr>
              <a:t>My 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CF651-D27B-4624-9BD2-3D1CB80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100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A"/>
                </a:solidFill>
              </a:defRPr>
            </a:pPr>
            <a:r>
              <a:rPr sz="1200" b="0">
                <a:solidFill>
                  <a:srgbClr val="A7B8CA"/>
                </a:solidFill>
              </a:rPr>
              <a:t>Save ingredients for total-dose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F4596-6495-491E-93CA-6D469DD3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4D7C6"/>
                </a:solidFill>
              </a:defRPr>
            </a:pPr>
            <a:r>
              <a:rPr sz="2025" b="1">
                <a:solidFill>
                  <a:srgbClr val="44D7C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3F5F5-62B0-4348-84AF-078D324C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4D7C6"/>
                </a:solidFill>
              </a:defRPr>
            </a:pPr>
            <a:r>
              <a:rPr sz="2025" b="1">
                <a:solidFill>
                  <a:srgbClr val="44D7C6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4FDF7-0340-4A4C-8842-3482ADAF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4D7C6"/>
                </a:solidFill>
              </a:defRPr>
            </a:pPr>
            <a:r>
              <a:rPr sz="2025" b="1">
                <a:solidFill>
                  <a:srgbClr val="44D7C6"/>
                </a:solidFill>
              </a:rPr>
              <a:t>-&gt;</a:t>
            </a:r>
          </a:p>
        </p:txBody>
      </p:sp>
    </p:spTree>
    <p:extLst>
      <p:ext uri="{BB962C8B-B14F-4D97-AF65-F5344CB8AC3E}">
        <p14:creationId xmlns:p14="http://schemas.microsoft.com/office/powerpoint/2010/main" val="1987301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525A3-1B1A-4E03-9E35-F3A9EB2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14410-1DE6-4022-BE8E-5D6D958A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09678-3FAE-4D30-9AD1-33393E96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Numeric safety checks are deterministic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80AC8-4B16-4153-AB01-F95F1F52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For upper limits, ClearLabel uses code and parsed NIH rows rather than model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CCEB-34B1-438E-ADA2-93958E47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9AE65-1442-4D0B-9274-8ADB5901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Stack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3614F-7514-476E-A53A-01E0F53A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8CA"/>
                </a:solidFill>
              </a:defRPr>
            </a:pPr>
            <a:r>
              <a:rPr sz="1500" b="0">
                <a:solidFill>
                  <a:srgbClr val="A7B8CA"/>
                </a:solidFill>
              </a:rPr>
              <a:t>Product A + Product B + Product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505E0-5E43-423A-B68C-264873B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55546-748D-44B9-A5F5-AEC03199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7CB00-1F60-4366-A326-E440B2DC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890A7"/>
                </a:solidFill>
              </a:defRPr>
            </a:pPr>
            <a:r>
              <a:rPr sz="1275" b="0">
                <a:solidFill>
                  <a:srgbClr val="7890A7"/>
                </a:solidFill>
              </a:rPr>
              <a:t>Compared with NIH upper-limit row for the user's life 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9E682-673E-4D4F-AADF-0A3D7334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725">
                <a:solidFill>
                  <a:srgbClr val="A7B8CA"/>
                </a:solidFill>
              </a:defRPr>
            </a:pPr>
            <a:r>
              <a:rPr sz="1725">
                <a:solidFill>
                  <a:srgbClr val="A7B8CA"/>
                </a:solidFill>
              </a:rPr>
              <a:t>Same input produces the same finding every time.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725">
                <a:solidFill>
                  <a:srgbClr val="A7B8CA"/>
                </a:solidFill>
              </a:defRPr>
            </a:pPr>
            <a:r>
              <a:rPr sz="1725">
                <a:solidFill>
                  <a:srgbClr val="A7B8CA"/>
                </a:solidFill>
              </a:rPr>
              <a:t>No model call decides arithmetic or thresholds.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725">
                <a:solidFill>
                  <a:srgbClr val="A7B8CA"/>
                </a:solidFill>
              </a:defRPr>
            </a:pPr>
            <a:r>
              <a:rPr sz="1725">
                <a:solidFill>
                  <a:srgbClr val="A7B8CA"/>
                </a:solidFill>
              </a:rPr>
              <a:t>No published limit is reported explicitly, not hidden.</a:t>
            </a:r>
          </a:p>
        </p:txBody>
      </p:sp>
    </p:spTree>
    <p:extLst>
      <p:ext uri="{BB962C8B-B14F-4D97-AF65-F5344CB8AC3E}">
        <p14:creationId xmlns:p14="http://schemas.microsoft.com/office/powerpoint/2010/main" val="15291507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69B63-DCA8-4B26-8EF8-5C3BAC5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25C5F-289D-4AFA-B66B-7487A500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D9141-CBD2-4815-91D5-8C2F61C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Privacy constraints shaped 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7C64B-27C6-4D6D-9133-B605BC8F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The app collects only the data needed for each workflow, and avoids health-condition profiles.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0FAED-6AD1-425C-AA91-3E96C22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933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C8AE1-6FC3-491E-9202-377891D5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D7C6"/>
                </a:solidFill>
              </a:defRPr>
            </a:pPr>
            <a:r>
              <a:rPr sz="1650" b="1">
                <a:solidFill>
                  <a:srgbClr val="44D7C6"/>
                </a:solidFill>
              </a:rPr>
              <a:t>Session-only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FFA89-AB52-45F8-820F-6B9A97C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Age, sex, pregnancy or breastfeeding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A219A-30B7-46F7-95DF-D546EFDF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933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AFA7E-044A-4109-BDB7-AB56FDB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D7C6"/>
                </a:solidFill>
              </a:defRPr>
            </a:pPr>
            <a:r>
              <a:rPr sz="1650" b="1">
                <a:solidFill>
                  <a:srgbClr val="44D7C6"/>
                </a:solidFill>
              </a:rPr>
              <a:t>Stored with RLS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F7472-AC26-4F5B-8FE1-7BEFFE59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Supplements, medication names, Decision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E4952-AE00-4E57-A33E-ADD6932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33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C3F83-7666-43EC-9C62-FF43C30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D7C6"/>
                </a:solidFill>
              </a:defRPr>
            </a:pPr>
            <a:r>
              <a:rPr sz="1650" b="1">
                <a:solidFill>
                  <a:srgbClr val="44D7C6"/>
                </a:solidFill>
              </a:rPr>
              <a:t>Never collected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1F439-C3A8-4C72-AA35-0338F33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Health 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1481A-6858-4C19-A3B8-82EF55E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933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F2236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82BED-A6B5-4D77-B0A7-1864334C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D7C6"/>
                </a:solidFill>
              </a:defRPr>
            </a:pPr>
            <a:r>
              <a:rPr sz="1650" b="1">
                <a:solidFill>
                  <a:srgbClr val="44D7C6"/>
                </a:solidFill>
              </a:rPr>
              <a:t>Redacted by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2C6E3-8526-4A59-9977-9DD60450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Medication names in saved cards unless the user opts in</a:t>
            </a:r>
          </a:p>
        </p:txBody>
      </p:sp>
    </p:spTree>
    <p:extLst>
      <p:ext uri="{BB962C8B-B14F-4D97-AF65-F5344CB8AC3E}">
        <p14:creationId xmlns:p14="http://schemas.microsoft.com/office/powerpoint/2010/main" val="1561711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29306-CF9A-423A-BFD5-5338F490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C0060-92D7-48C3-9203-3A61CE1C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D37FE-4444-4EA0-BE69-0BD048C1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Demo-ready, with honest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648FE-AB7B-417F-98AE-3B89158A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Core routes are live, documented, and designed to fail visibly instead of silently.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08674-5648-4602-8FA5-EF71E58F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D7C6"/>
                </a:solidFill>
              </a:defRPr>
            </a:pPr>
            <a:r>
              <a:rPr sz="975" b="1">
                <a:solidFill>
                  <a:srgbClr val="44D7C6"/>
                </a:solidFill>
              </a:rPr>
              <a:t>LIVE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259F6-131D-4305-A3AD-D0408EAE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Live on Vercel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6AD14-836F-4803-AF11-4D317CB0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E6B5"/>
                </a:solidFill>
              </a:defRPr>
            </a:pPr>
            <a:r>
              <a:rPr sz="975" b="1">
                <a:solidFill>
                  <a:srgbClr val="84E6B5"/>
                </a:solidFill>
              </a:rPr>
              <a:t>CORPUS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DA0C2-2F8D-4911-AFB1-D7992AB3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NIH ODS/NCCIH chunks with section citations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EB6E7-1A00-4DF0-B3AE-56324FF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86A"/>
                </a:solidFill>
              </a:defRPr>
            </a:pPr>
            <a:r>
              <a:rPr sz="975" b="1">
                <a:solidFill>
                  <a:srgbClr val="F5C86A"/>
                </a:solidFill>
              </a:rPr>
              <a:t>QUALITY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9E1BD-D9D1-46CE-9304-1B5477D5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Measured refusal floor: 0.66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19D17-F54C-4225-AE31-EAD99705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3B7FF"/>
                </a:solidFill>
              </a:defRPr>
            </a:pPr>
            <a:r>
              <a:rPr sz="975" b="1">
                <a:solidFill>
                  <a:srgbClr val="83B7FF"/>
                </a:solidFill>
              </a:rPr>
              <a:t>BUILD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55C70-7DFA-45DC-B307-55E04EB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339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</a:defRPr>
            </a:pPr>
            <a:r>
              <a:rPr sz="1800" b="1">
                <a:solidFill>
                  <a:srgbClr val="F7FBFF"/>
                </a:solidFill>
              </a:rPr>
              <a:t>Typecheck, lint, and production build verified</a:t>
            </a:r>
          </a:p>
        </p:txBody>
      </p:sp>
    </p:spTree>
    <p:extLst>
      <p:ext uri="{BB962C8B-B14F-4D97-AF65-F5344CB8AC3E}">
        <p14:creationId xmlns:p14="http://schemas.microsoft.com/office/powerpoint/2010/main" val="984043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F2CD-A75A-4D39-A284-2A14AFE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B42B-465B-4DF2-BD5C-A003E07F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27C5B-2AA9-46D6-BD86-DE35638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Known limits are documented, not hidden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D9301-597C-4739-B28C-0674800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The roadmap focuses on reliability before expanding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CD966-248A-4846-9906-EEA8A67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819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75">
                <a:solidFill>
                  <a:srgbClr val="A7B8CA"/>
                </a:solidFill>
              </a:defRPr>
            </a:pPr>
            <a:r>
              <a:rPr sz="1875">
                <a:solidFill>
                  <a:srgbClr val="A7B8CA"/>
                </a:solidFill>
              </a:rPr>
              <a:t>Spanish retrieval is designed but not fully ingested.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75">
                <a:solidFill>
                  <a:srgbClr val="A7B8CA"/>
                </a:solidFill>
              </a:defRPr>
            </a:pPr>
            <a:r>
              <a:rPr sz="1875">
                <a:solidFill>
                  <a:srgbClr val="A7B8CA"/>
                </a:solidFill>
              </a:rPr>
              <a:t>Text generation needs an automatic fallback provider.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75">
                <a:solidFill>
                  <a:srgbClr val="A7B8CA"/>
                </a:solidFill>
              </a:defRPr>
            </a:pPr>
            <a:r>
              <a:rPr sz="1875">
                <a:solidFill>
                  <a:srgbClr val="A7B8CA"/>
                </a:solidFill>
              </a:rPr>
              <a:t>Answer caching and production monitoring are the next reliability wins.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75">
                <a:solidFill>
                  <a:srgbClr val="A7B8CA"/>
                </a:solidFill>
              </a:defRPr>
            </a:pPr>
            <a:r>
              <a:rPr sz="1875">
                <a:solidFill>
                  <a:srgbClr val="A7B8CA"/>
                </a:solidFill>
              </a:rPr>
              <a:t>A larger citation evaluation set would make quality measurable over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EB56E-A1A1-402F-AE4A-F2628C83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8110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253A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5E3E4-02B4-4E3C-A773-90C23A2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90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D7C6"/>
                </a:solidFill>
              </a:defRPr>
            </a:pPr>
            <a:r>
              <a:rPr sz="1350" b="1">
                <a:solidFill>
                  <a:srgbClr val="44D7C6"/>
                </a:solidFill>
              </a:rPr>
              <a:t>Roadmap principle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601E0-19C8-4E65-A739-1F92E160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954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Reliability first</a:t>
            </a:r>
          </a:p>
        </p:txBody>
      </p:sp>
    </p:spTree>
    <p:extLst>
      <p:ext uri="{BB962C8B-B14F-4D97-AF65-F5344CB8AC3E}">
        <p14:creationId xmlns:p14="http://schemas.microsoft.com/office/powerpoint/2010/main" val="1569273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C4EA5-431C-4B16-B0D5-1D8D14AC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4D7C6"/>
                </a:solidFill>
              </a:defRPr>
            </a:pPr>
            <a:r>
              <a:rPr sz="1125" b="1">
                <a:solidFill>
                  <a:srgbClr val="44D7C6"/>
                </a:solidFill>
              </a:rPr>
              <a:t>CLEARLABEL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556F1-C0E7-40C6-BC29-3EFD87CE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7"/>
                </a:solidFill>
              </a:defRPr>
            </a:pPr>
            <a:r>
              <a:rPr sz="1125" b="1">
                <a:solidFill>
                  <a:srgbClr val="7890A7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40ACA-461D-49A8-8B5B-B5B31596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BFF"/>
                </a:solidFill>
              </a:defRPr>
            </a:pPr>
            <a:r>
              <a:rPr sz="2925" b="1">
                <a:solidFill>
                  <a:srgbClr val="F7FBFF"/>
                </a:solidFill>
              </a:rPr>
              <a:t>Clean demo path with backups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37CD8-58DA-4DCA-8318-BD1DB1DE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8CA"/>
                </a:solidFill>
              </a:defRPr>
            </a:pPr>
            <a:r>
              <a:rPr sz="1650" b="0">
                <a:solidFill>
                  <a:srgbClr val="A7B8CA"/>
                </a:solidFill>
              </a:rPr>
              <a:t>The live app is primary; the video, handout, and saved flows cover venue issues.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9647F-1DB0-4C2E-9CF6-7A7C12F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00">
                <a:solidFill>
                  <a:srgbClr val="A7B8CA"/>
                </a:solidFill>
              </a:defRPr>
            </a:pPr>
            <a:r>
              <a:rPr sz="1800">
                <a:solidFill>
                  <a:srgbClr val="A7B8CA"/>
                </a:solidFill>
              </a:rPr>
              <a:t>Start with the problem, then ask a covered NIH question.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00">
                <a:solidFill>
                  <a:srgbClr val="A7B8CA"/>
                </a:solidFill>
              </a:defRPr>
            </a:pPr>
            <a:r>
              <a:rPr sz="1800">
                <a:solidFill>
                  <a:srgbClr val="A7B8CA"/>
                </a:solidFill>
              </a:rPr>
              <a:t>Show evidence cards and sources before discussing AI.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00">
                <a:solidFill>
                  <a:srgbClr val="A7B8CA"/>
                </a:solidFill>
              </a:defRPr>
            </a:pPr>
            <a:r>
              <a:rPr sz="1800">
                <a:solidFill>
                  <a:srgbClr val="A7B8CA"/>
                </a:solidFill>
              </a:rPr>
              <a:t>Scan or type a product, then run My Stack checks.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00">
                <a:solidFill>
                  <a:srgbClr val="A7B8CA"/>
                </a:solidFill>
              </a:defRPr>
            </a:pPr>
            <a:r>
              <a:rPr sz="1800">
                <a:solidFill>
                  <a:srgbClr val="A7B8CA"/>
                </a:solidFill>
              </a:rPr>
              <a:t>Close with a Decision Card and clinician questions.</a:t>
            </a:r>
          </a:p>
          <a:p xmlns:a="http://schemas.openxmlformats.org/drawingml/2006/main">
            <a:pPr marL="24" indent="-13">
              <a:lnSpc>
                <a:spcPct val="105000"/>
              </a:lnSpc>
              <a:spcAft>
                <a:spcPts val="10"/>
              </a:spcAft>
              <a:buNone/>
              <a:defRPr sz="1800">
                <a:solidFill>
                  <a:srgbClr val="A7B8CA"/>
                </a:solidFill>
              </a:defRPr>
            </a:pPr>
            <a:r>
              <a:rPr sz="1800">
                <a:solidFill>
                  <a:srgbClr val="A7B8CA"/>
                </a:solidFill>
              </a:rPr>
              <a:t>If network or camera fails, use the hosted video and saved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06B1D-5809-4C63-A754-C8DF228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12A42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8CBFD-39BE-47A0-849E-2ABB1F6D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43250"/>
            <a:ext cx="133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10 min</a:t>
            </a:r>
          </a:p>
          <a:p xmlns:a="http://schemas.openxmlformats.org/drawingml/2006/main">
            <a:pPr algn="ctr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presentation</a:t>
            </a:r>
          </a:p>
          <a:p xmlns:a="http://schemas.openxmlformats.org/drawingml/2006/main">
            <a:pPr algn="ctr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+</a:t>
            </a:r>
          </a:p>
          <a:p xmlns:a="http://schemas.openxmlformats.org/drawingml/2006/main">
            <a:pPr algn="ctr">
              <a:defRPr sz="1950" b="1">
                <a:solidFill>
                  <a:srgbClr val="F7FBFF"/>
                </a:solidFill>
              </a:defRPr>
            </a:pPr>
            <a:r>
              <a:rPr sz="1950" b="1">
                <a:solidFill>
                  <a:srgbClr val="F7FBFF"/>
                </a:solidFill>
              </a:rPr>
              <a:t>5 min Q&amp;A</a:t>
            </a:r>
          </a:p>
        </p:txBody>
      </p:sp>
    </p:spTree>
    <p:extLst>
      <p:ext uri="{BB962C8B-B14F-4D97-AF65-F5344CB8AC3E}">
        <p14:creationId xmlns:p14="http://schemas.microsoft.com/office/powerpoint/2010/main" val="10861005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26157-D07D-4660-A919-0AB6B67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4EBBB-F7C9-46FD-9746-8E0C595E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857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BFF"/>
                </a:solidFill>
              </a:defRPr>
            </a:pPr>
            <a:r>
              <a:rPr sz="4050" b="1">
                <a:solidFill>
                  <a:srgbClr val="F7FBFF"/>
                </a:solidFill>
              </a:rPr>
              <a:t>ClearLabel makes authoritative supplement guidance usable when it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53E33-7C7E-4028-A435-9617F67D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16195-BADB-45EC-BBB2-42C9346C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8CA"/>
                </a:solidFill>
              </a:defRPr>
            </a:pPr>
            <a:r>
              <a:rPr sz="1950" b="0">
                <a:solidFill>
                  <a:srgbClr val="A7B8CA"/>
                </a:solidFill>
              </a:rPr>
              <a:t>Evidence first. Refusal over speculation. Privacy by 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CF07E-6E36-47F5-B0DC-EE29D5E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90A7"/>
                </a:solidFill>
              </a:defRPr>
            </a:pPr>
            <a:r>
              <a:rPr sz="1350" b="0">
                <a:solidFill>
                  <a:srgbClr val="7890A7"/>
                </a:solidFill>
              </a:rPr>
              <a:t>Live app: https://buildphase-notypos.vercel.app</a:t>
            </a:r>
          </a:p>
          <a:p xmlns:a="http://schemas.openxmlformats.org/drawingml/2006/main">
            <a:pPr algn="l">
              <a:defRPr sz="1350" b="0">
                <a:solidFill>
                  <a:srgbClr val="7890A7"/>
                </a:solidFill>
              </a:defRPr>
            </a:pPr>
            <a:r>
              <a:rPr sz="1350" b="0">
                <a:solidFill>
                  <a:srgbClr val="7890A7"/>
                </a:solidFill>
              </a:rPr>
              <a:t>Repository: https://github.com/FAU-AI-HootCamp-Summer-2026/buildphase-notypos</a:t>
            </a:r>
          </a:p>
        </p:txBody>
      </p:sp>
    </p:spTree>
    <p:extLst>
      <p:ext uri="{BB962C8B-B14F-4D97-AF65-F5344CB8AC3E}">
        <p14:creationId xmlns:p14="http://schemas.microsoft.com/office/powerpoint/2010/main" val="1216404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2026-08-26T23:56:45.2450000Z</dcterms:created>
  <dcterms:modified xsi:type="dcterms:W3CDTF">2026-08-26T23:56:45.2450000Z</dcterms:modified>
</coreProperties>
</file>